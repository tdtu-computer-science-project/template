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5"/>
  </p:notesMasterIdLst>
  <p:handoutMasterIdLst>
    <p:handoutMasterId r:id="rId16"/>
  </p:handoutMasterIdLst>
  <p:sldIdLst>
    <p:sldId id="256" r:id="rId4"/>
    <p:sldId id="423" r:id="rId5"/>
    <p:sldId id="418" r:id="rId6"/>
    <p:sldId id="420" r:id="rId7"/>
    <p:sldId id="421" r:id="rId8"/>
    <p:sldId id="422" r:id="rId9"/>
    <p:sldId id="424" r:id="rId10"/>
    <p:sldId id="425" r:id="rId11"/>
    <p:sldId id="428" r:id="rId12"/>
    <p:sldId id="426" r:id="rId13"/>
    <p:sldId id="429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1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en-US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author contact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en-US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author contact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11831320" y="3248660"/>
            <a:ext cx="360000" cy="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096000" y="6497955"/>
            <a:ext cx="0" cy="36000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0" y="3248660"/>
            <a:ext cx="360000" cy="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6096000" y="6517005"/>
            <a:ext cx="76517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066145" y="3088005"/>
            <a:ext cx="76517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60045" y="3087370"/>
            <a:ext cx="7651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80000"/>
              </a:lnSpc>
            </a:pPr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6000750"/>
            <a:ext cx="847031" cy="468000"/>
          </a:xfrm>
          <a:prstGeom prst="rect">
            <a:avLst/>
          </a:prstGeom>
        </p:spPr>
      </p:pic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>
          <a:xfrm>
            <a:off x="4038600" y="6132830"/>
            <a:ext cx="4114800" cy="365125"/>
          </a:xfrm>
        </p:spPr>
        <p:txBody>
          <a:bodyPr/>
          <a:p>
            <a:pPr algn="ctr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contact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095365" y="0"/>
            <a:ext cx="0" cy="36000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31"/>
          <p:cNvSpPr txBox="1"/>
          <p:nvPr/>
        </p:nvSpPr>
        <p:spPr>
          <a:xfrm>
            <a:off x="6095365" y="19050"/>
            <a:ext cx="76517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1207135" y="5678805"/>
            <a:ext cx="244919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vi-VN" sz="1500">
                <a:solidFill>
                  <a:srgbClr val="FF0000"/>
                </a:solidFill>
              </a:rPr>
              <a:t>Organization </a:t>
            </a:r>
            <a:r>
              <a:rPr lang="vi-VN" altLang="en-US" sz="1500">
                <a:solidFill>
                  <a:srgbClr val="FF0000"/>
                </a:solidFill>
              </a:rPr>
              <a:t>Logo (Or not)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5378450" y="2948305"/>
            <a:ext cx="143319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vi-VN" sz="3000" b="1">
                <a:solidFill>
                  <a:srgbClr val="FF0000"/>
                </a:solidFill>
              </a:rPr>
              <a:t>Layout</a:t>
            </a:r>
            <a:endParaRPr lang="en-US" altLang="vi-VN" sz="3000" b="1">
              <a:solidFill>
                <a:srgbClr val="FF0000"/>
              </a:solidFill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10962640" y="5810885"/>
            <a:ext cx="62801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1500">
                <a:solidFill>
                  <a:srgbClr val="FF0000"/>
                </a:solidFill>
              </a:rPr>
              <a:t>Page</a:t>
            </a:r>
            <a:endParaRPr lang="en-US" sz="1500">
              <a:solidFill>
                <a:srgbClr val="FF0000"/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5461318" y="4617720"/>
            <a:ext cx="12687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vi-VN" sz="2000">
                <a:solidFill>
                  <a:srgbClr val="FF0000"/>
                </a:solidFill>
              </a:rPr>
              <a:t>Arial Font</a:t>
            </a:r>
            <a:endParaRPr lang="en-US" altLang="vi-VN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96815" y="2948305"/>
            <a:ext cx="219646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3000" b="1">
                <a:solidFill>
                  <a:srgbClr val="FF0000"/>
                </a:solidFill>
              </a:rPr>
              <a:t>Initial Slide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019675" y="998220"/>
            <a:ext cx="2154465" cy="720000"/>
            <a:chOff x="8932" y="1247"/>
            <a:chExt cx="3393" cy="1134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32" y="1247"/>
              <a:ext cx="2052" cy="1134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91" y="1247"/>
              <a:ext cx="1134" cy="1134"/>
            </a:xfrm>
            <a:prstGeom prst="rect">
              <a:avLst/>
            </a:prstGeom>
          </p:spPr>
        </p:pic>
      </p:grpSp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131060" y="2167255"/>
            <a:ext cx="7928610" cy="2523490"/>
            <a:chOff x="3356" y="3027"/>
            <a:chExt cx="12486" cy="3974"/>
          </a:xfrm>
        </p:grpSpPr>
        <p:sp>
          <p:nvSpPr>
            <p:cNvPr id="16" name="Text Box 15"/>
            <p:cNvSpPr txBox="1"/>
            <p:nvPr/>
          </p:nvSpPr>
          <p:spPr>
            <a:xfrm>
              <a:off x="8107" y="5161"/>
              <a:ext cx="298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vi-VN" altLang="en-US" b="1">
                  <a:sym typeface="+mn-ea"/>
                </a:rPr>
                <a:t>Author(s) Name</a:t>
              </a:r>
              <a:endParaRPr lang="vi-VN" altLang="en-US"/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5603" y="4089"/>
              <a:ext cx="7993" cy="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3000" b="1">
                  <a:solidFill>
                    <a:schemeClr val="tx1"/>
                  </a:solidFill>
                </a:rPr>
                <a:t>Paper Name / Report Name</a:t>
              </a:r>
              <a:endParaRPr lang="vi-V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3356" y="5985"/>
              <a:ext cx="12487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vi-VN" altLang="en-US">
                  <a:sym typeface="+mn-ea"/>
                </a:rPr>
                <a:t>Affilation</a:t>
              </a:r>
              <a:endParaRPr lang="vi-VN" altLang="en-US">
                <a:sym typeface="+mn-ea"/>
              </a:endParaRPr>
            </a:p>
            <a:p>
              <a:pPr algn="ctr"/>
              <a:r>
                <a:rPr lang="vi-VN" altLang="en-US" baseline="30000"/>
                <a:t>*</a:t>
              </a:r>
              <a:r>
                <a:rPr lang="vi-VN" altLang="en-US"/>
                <a:t>Correspondence</a:t>
              </a:r>
              <a:endParaRPr lang="vi-V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7249" y="3027"/>
              <a:ext cx="4705" cy="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2500" b="1">
                  <a:solidFill>
                    <a:schemeClr val="tx1"/>
                  </a:solidFill>
                </a:rPr>
                <a:t>Competition Name</a:t>
              </a:r>
              <a:endParaRPr lang="vi-VN" altLang="en-US" sz="25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951865" y="2134870"/>
            <a:ext cx="10288270" cy="2587625"/>
            <a:chOff x="1699" y="3311"/>
            <a:chExt cx="16202" cy="4075"/>
          </a:xfrm>
        </p:grpSpPr>
        <p:sp>
          <p:nvSpPr>
            <p:cNvPr id="2" name="Text Box 1"/>
            <p:cNvSpPr txBox="1"/>
            <p:nvPr/>
          </p:nvSpPr>
          <p:spPr>
            <a:xfrm>
              <a:off x="3556" y="5934"/>
              <a:ext cx="12487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vi-VN" baseline="30000">
                  <a:sym typeface="+mn-ea"/>
                </a:rPr>
                <a:t>1 </a:t>
              </a:r>
              <a:r>
                <a:rPr lang="en-US" altLang="vi-VN">
                  <a:sym typeface="+mn-ea"/>
                </a:rPr>
                <a:t>Faculty of Information Technology, Ton Duc Thang University</a:t>
              </a:r>
              <a:endParaRPr lang="en-US" altLang="vi-VN">
                <a:solidFill>
                  <a:schemeClr val="tx1"/>
                </a:solidFill>
              </a:endParaRPr>
            </a:p>
            <a:p>
              <a:pPr algn="ctr"/>
              <a:r>
                <a:rPr lang="en-US" altLang="vi-VN" baseline="30000">
                  <a:sym typeface="+mn-ea"/>
                </a:rPr>
                <a:t>2 </a:t>
              </a:r>
              <a:r>
                <a:rPr lang="en-US" altLang="vi-VN">
                  <a:sym typeface="+mn-ea"/>
                </a:rPr>
                <a:t>School of Technology, University of Management and Technology</a:t>
              </a:r>
              <a:endParaRPr lang="en-US" altLang="vi-VN">
                <a:solidFill>
                  <a:schemeClr val="tx1"/>
                </a:solidFill>
              </a:endParaRPr>
            </a:p>
            <a:p>
              <a:pPr algn="ctr"/>
              <a:r>
                <a:rPr lang="en-US" altLang="vi-VN" baseline="30000">
                  <a:sym typeface="+mn-ea"/>
                </a:rPr>
                <a:t>* </a:t>
              </a:r>
              <a:r>
                <a:rPr lang="en-US" altLang="vi-VN">
                  <a:sym typeface="+mn-ea"/>
                </a:rPr>
                <a:t>Correspondence: huy.phamvan@umt.edu.vn</a:t>
              </a:r>
              <a:endParaRPr lang="en-US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6474" y="5110"/>
              <a:ext cx="6653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en-US" altLang="vi-VN" b="1">
                  <a:sym typeface="+mn-ea"/>
                </a:rPr>
                <a:t>Quang Huy Nguyen</a:t>
              </a:r>
              <a:r>
                <a:rPr lang="en-US" altLang="vi-VN" b="1" baseline="30000">
                  <a:sym typeface="+mn-ea"/>
                </a:rPr>
                <a:t>1</a:t>
              </a:r>
              <a:r>
                <a:rPr lang="en-US" altLang="vi-VN" b="1">
                  <a:sym typeface="+mn-ea"/>
                </a:rPr>
                <a:t>, Van Huy Pham</a:t>
              </a:r>
              <a:r>
                <a:rPr lang="en-US" altLang="vi-VN" b="1" baseline="30000">
                  <a:sym typeface="+mn-ea"/>
                </a:rPr>
                <a:t>2 </a:t>
              </a:r>
              <a:endParaRPr lang="en-US"/>
            </a:p>
          </p:txBody>
        </p:sp>
        <p:sp>
          <p:nvSpPr>
            <p:cNvPr id="4" name="Text Box 3"/>
            <p:cNvSpPr txBox="1"/>
            <p:nvPr/>
          </p:nvSpPr>
          <p:spPr>
            <a:xfrm>
              <a:off x="1699" y="3311"/>
              <a:ext cx="1620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altLang="vi-VN" sz="3000" b="1">
                  <a:solidFill>
                    <a:schemeClr val="tx1"/>
                  </a:solidFill>
                </a:rPr>
                <a:t>ASBW: A Frequency-Domain Analysis Approach for</a:t>
              </a:r>
              <a:endParaRPr lang="en-US" altLang="vi-VN" sz="3000" b="1">
                <a:solidFill>
                  <a:schemeClr val="tx1"/>
                </a:solidFill>
              </a:endParaRPr>
            </a:p>
            <a:p>
              <a:pPr algn="ctr"/>
              <a:r>
                <a:rPr lang="en-US" altLang="vi-VN" sz="3000" b="1">
                  <a:solidFill>
                    <a:schemeClr val="tx1"/>
                  </a:solidFill>
                </a:rPr>
                <a:t>Distinguishing GAN-Generated Images from Real Image</a:t>
              </a:r>
              <a:endParaRPr lang="en-US" altLang="vi-VN" sz="200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60045" y="360045"/>
            <a:ext cx="20885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SAMPLE 1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63905" y="1888490"/>
            <a:ext cx="10664190" cy="3081020"/>
            <a:chOff x="1203" y="3027"/>
            <a:chExt cx="16794" cy="4852"/>
          </a:xfrm>
        </p:grpSpPr>
        <p:sp>
          <p:nvSpPr>
            <p:cNvPr id="17" name="Text Box 16"/>
            <p:cNvSpPr txBox="1"/>
            <p:nvPr/>
          </p:nvSpPr>
          <p:spPr>
            <a:xfrm>
              <a:off x="1203" y="4089"/>
              <a:ext cx="16794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Áp dụng trí tuệ nhân tạo </a:t>
              </a:r>
              <a:endParaRPr lang="vi-VN" altLang="en-US" sz="3000" b="1">
                <a:solidFill>
                  <a:srgbClr val="FF0000"/>
                </a:solidFill>
              </a:endParaRPr>
            </a:p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trong hỗ trợ đầu tư chứng khoán và cảnh báo bất thường</a:t>
              </a:r>
              <a:endParaRPr lang="vi-VN" altLang="en-US" sz="3000" b="1">
                <a:solidFill>
                  <a:srgbClr val="FF0000"/>
                </a:solidFill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2527" y="5985"/>
              <a:ext cx="14144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vi-VN" altLang="en-US" b="1">
                  <a:sym typeface="+mn-ea"/>
                </a:rPr>
                <a:t>Nguyễn Quang Huy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Nguyễn Phúc Toàn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Phan Anh Kiệt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Trần Lương Quốc Đại</a:t>
              </a:r>
              <a:r>
                <a:rPr lang="vi-VN" altLang="en-US" b="1" baseline="30000">
                  <a:sym typeface="+mn-ea"/>
                </a:rPr>
                <a:t>2</a:t>
              </a:r>
              <a:endParaRPr lang="vi-VN" altLang="en-US" b="1">
                <a:sym typeface="+mn-ea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2231" y="6863"/>
              <a:ext cx="14735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vi-VN" altLang="en-US" baseline="30000">
                  <a:sym typeface="+mn-ea"/>
                </a:rPr>
                <a:t>1</a:t>
              </a:r>
              <a:r>
                <a:rPr lang="en-US" altLang="vi-VN">
                  <a:sym typeface="+mn-ea"/>
                </a:rPr>
                <a:t>Faculty of Information Technology, Ton Duc Thang University</a:t>
              </a:r>
              <a:endParaRPr lang="en-US" altLang="vi-VN">
                <a:sym typeface="+mn-ea"/>
              </a:endParaRPr>
            </a:p>
            <a:p>
              <a:pPr algn="ctr"/>
              <a:r>
                <a:rPr lang="vi-VN" altLang="en-US" baseline="30000">
                  <a:sym typeface="+mn-ea"/>
                </a:rPr>
                <a:t>2</a:t>
              </a:r>
              <a:r>
                <a:rPr lang="en-US" altLang="vi-VN">
                  <a:sym typeface="+mn-ea"/>
                </a:rPr>
                <a:t>N</a:t>
              </a:r>
              <a:r>
                <a:rPr lang="vi-VN" altLang="en-US">
                  <a:sym typeface="+mn-ea"/>
                </a:rPr>
                <a:t>LP &amp; KD </a:t>
              </a:r>
              <a:r>
                <a:rPr lang="en-US" altLang="vi-VN">
                  <a:sym typeface="+mn-ea"/>
                </a:rPr>
                <a:t>Laboratory, Faculty of Information Technology, Ton Duc Thang Universit</a:t>
              </a:r>
              <a:r>
                <a:rPr lang="vi-VN" altLang="en-US">
                  <a:sym typeface="+mn-ea"/>
                </a:rPr>
                <a:t>y</a:t>
              </a:r>
              <a:endParaRPr lang="vi-V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4464" y="3027"/>
              <a:ext cx="10275" cy="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2500" b="1">
                  <a:solidFill>
                    <a:schemeClr val="tx1"/>
                  </a:solidFill>
                </a:rPr>
                <a:t>NGHIỆM THU ĐỀ TÀI NCKHSV CẤP KHOA</a:t>
              </a:r>
              <a:endParaRPr lang="vi-VN" altLang="en-US" sz="250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60045" y="360045"/>
            <a:ext cx="20885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SAMPLE 2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034915" y="977900"/>
            <a:ext cx="2154465" cy="720000"/>
            <a:chOff x="8932" y="1247"/>
            <a:chExt cx="3393" cy="113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32" y="1247"/>
              <a:ext cx="2052" cy="1134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91" y="1247"/>
              <a:ext cx="1134" cy="11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017270" y="2026920"/>
            <a:ext cx="10156190" cy="2804160"/>
            <a:chOff x="1602" y="3027"/>
            <a:chExt cx="15994" cy="4416"/>
          </a:xfrm>
        </p:grpSpPr>
        <p:sp>
          <p:nvSpPr>
            <p:cNvPr id="17" name="Text Box 16"/>
            <p:cNvSpPr txBox="1"/>
            <p:nvPr/>
          </p:nvSpPr>
          <p:spPr>
            <a:xfrm>
              <a:off x="1602" y="4089"/>
              <a:ext cx="15995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Large-Scale Vietnamese Financial Diacritic Restoration</a:t>
              </a:r>
              <a:endParaRPr lang="vi-VN" altLang="en-US" sz="3000" b="1">
                <a:solidFill>
                  <a:srgbClr val="FF0000"/>
                </a:solidFill>
              </a:endParaRPr>
            </a:p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using LSTM and Constrained Beam Search Decoding</a:t>
              </a:r>
              <a:endParaRPr lang="vi-VN" altLang="en-US" sz="3000" b="1">
                <a:solidFill>
                  <a:srgbClr val="FF0000"/>
                </a:solidFill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5732" y="5985"/>
              <a:ext cx="7734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vi-VN" altLang="en-US" b="1">
                  <a:sym typeface="+mn-ea"/>
                </a:rPr>
                <a:t>Nguyễn Quang Huy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Nguyễn Trần Nhật An</a:t>
              </a:r>
              <a:r>
                <a:rPr lang="vi-VN" altLang="en-US" b="1" baseline="30000">
                  <a:sym typeface="+mn-ea"/>
                </a:rPr>
                <a:t>1</a:t>
              </a:r>
              <a:endParaRPr lang="vi-VN" altLang="en-US" b="1">
                <a:sym typeface="+mn-ea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2231" y="6863"/>
              <a:ext cx="14735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vi-VN" altLang="en-US" baseline="30000">
                  <a:sym typeface="+mn-ea"/>
                </a:rPr>
                <a:t>1</a:t>
              </a:r>
              <a:r>
                <a:rPr lang="en-US" altLang="vi-VN">
                  <a:sym typeface="+mn-ea"/>
                </a:rPr>
                <a:t>Faculty of Information Technology, Ton Duc Thang University</a:t>
              </a:r>
              <a:endParaRPr lang="vi-V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5039" y="3027"/>
              <a:ext cx="9125" cy="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2500" b="1">
                  <a:solidFill>
                    <a:schemeClr val="tx1"/>
                  </a:solidFill>
                </a:rPr>
                <a:t>NATURAL LANGUAGE PROCESSING</a:t>
              </a:r>
              <a:endParaRPr lang="vi-VN" altLang="en-US" sz="250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60045" y="360045"/>
            <a:ext cx="20885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SAMPLE 3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80610" y="2948305"/>
            <a:ext cx="242887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3000" b="1">
                <a:solidFill>
                  <a:srgbClr val="FF0000"/>
                </a:solidFill>
              </a:rPr>
              <a:t>Others Slide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553085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0045" y="360045"/>
            <a:ext cx="1147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Outline</a:t>
            </a:r>
            <a:r>
              <a:rPr lang="en-US" altLang="vi-VN" sz="3000" b="1">
                <a:solidFill>
                  <a:srgbClr val="FF0000"/>
                </a:solidFill>
              </a:rPr>
              <a:t> (30px)</a:t>
            </a:r>
            <a:endParaRPr lang="en-US" altLang="vi-VN" sz="3000" b="1">
              <a:solidFill>
                <a:srgbClr val="FF0000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60680" y="1092200"/>
            <a:ext cx="11471275" cy="5405755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59410" y="1092200"/>
            <a:ext cx="114719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altLang="en-US" sz="2500">
                <a:sym typeface="+mn-ea"/>
              </a:rPr>
              <a:t>Introduction</a:t>
            </a:r>
            <a:r>
              <a:rPr lang="en-US" altLang="vi-VN" sz="2500">
                <a:sym typeface="+mn-ea"/>
              </a:rPr>
              <a:t> (25px)</a:t>
            </a:r>
            <a:endParaRPr lang="vi-VN" altLang="en-US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altLang="en-US" sz="2500">
                <a:sym typeface="+mn-ea"/>
              </a:rPr>
              <a:t>Related Work</a:t>
            </a:r>
            <a:endParaRPr lang="vi-VN" altLang="en-US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altLang="en-US" sz="2500">
                <a:sym typeface="+mn-ea"/>
              </a:rPr>
              <a:t>Dataset</a:t>
            </a:r>
            <a:endParaRPr lang="vi-VN" altLang="en-US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vi-VN" sz="2500">
                <a:sym typeface="+mn-ea"/>
              </a:rPr>
              <a:t>Proposed Architecture</a:t>
            </a:r>
            <a:endParaRPr lang="en-US" altLang="vi-VN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vi-VN" sz="2500">
                <a:sym typeface="+mn-ea"/>
              </a:rPr>
              <a:t>Experiments</a:t>
            </a:r>
            <a:endParaRPr lang="en-US" altLang="vi-VN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vi-VN" sz="2500">
                <a:sym typeface="+mn-ea"/>
              </a:rPr>
              <a:t>Conclusion &amp; Future Work</a:t>
            </a:r>
            <a:endParaRPr lang="en-US" altLang="vi-VN" sz="250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096635" y="913130"/>
            <a:ext cx="0" cy="18000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6147118" y="842010"/>
            <a:ext cx="65913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vi-VN" sz="1500">
                <a:solidFill>
                  <a:srgbClr val="FF0000"/>
                </a:solidFill>
              </a:rPr>
              <a:t>5 </a:t>
            </a:r>
            <a:r>
              <a:rPr lang="vi-VN" altLang="en-US" sz="1500">
                <a:solidFill>
                  <a:srgbClr val="FF0000"/>
                </a:solidFill>
              </a:rPr>
              <a:t>mm</a:t>
            </a:r>
            <a:endParaRPr lang="vi-VN" altLang="en-US"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60045" y="360045"/>
            <a:ext cx="1147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Outline</a:t>
            </a:r>
            <a:endParaRPr lang="en-US" altLang="vi-VN" sz="3000" b="1">
              <a:solidFill>
                <a:srgbClr val="FF0000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9410" y="1092200"/>
            <a:ext cx="114719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altLang="en-US" sz="2500">
                <a:solidFill>
                  <a:schemeClr val="tx1"/>
                </a:solidFill>
              </a:rPr>
              <a:t>Introduction</a:t>
            </a:r>
            <a:endParaRPr lang="vi-VN" altLang="en-US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altLang="en-US" sz="2500">
                <a:solidFill>
                  <a:schemeClr val="tx1"/>
                </a:solidFill>
              </a:rPr>
              <a:t>Related Work</a:t>
            </a:r>
            <a:endParaRPr lang="vi-VN" altLang="en-US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vi-VN" altLang="en-US" sz="2500">
                <a:solidFill>
                  <a:schemeClr val="tx1"/>
                </a:solidFill>
              </a:rPr>
              <a:t>Dataset</a:t>
            </a:r>
            <a:endParaRPr lang="vi-VN" altLang="en-US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vi-VN" sz="2500">
                <a:solidFill>
                  <a:schemeClr val="tx1"/>
                </a:solidFill>
              </a:rPr>
              <a:t>Proposed Architecture</a:t>
            </a:r>
            <a:endParaRPr lang="en-US" altLang="vi-VN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vi-VN" sz="2500">
                <a:solidFill>
                  <a:schemeClr val="tx1"/>
                </a:solidFill>
              </a:rPr>
              <a:t>Experiments</a:t>
            </a:r>
            <a:endParaRPr lang="en-US" altLang="vi-VN" sz="250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vi-VN" sz="2500">
                <a:solidFill>
                  <a:schemeClr val="tx1"/>
                </a:solidFill>
              </a:rPr>
              <a:t>Conclusion &amp; Future Work</a:t>
            </a:r>
            <a:endParaRPr lang="en-US" altLang="vi-VN" sz="25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553085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0045" y="360045"/>
            <a:ext cx="1147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14350" indent="-514350">
              <a:buAutoNum type="arabicPeriod"/>
            </a:pPr>
            <a:r>
              <a:rPr lang="en-US" altLang="vi-VN" sz="3000" b="1">
                <a:solidFill>
                  <a:srgbClr val="FF0000"/>
                </a:solidFill>
              </a:rPr>
              <a:t>Introduction (30px, Bold, Red)</a:t>
            </a:r>
            <a:endParaRPr lang="en-US" altLang="vi-VN" sz="300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0680" y="1092200"/>
            <a:ext cx="5741670" cy="343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vi-VN" sz="2500" b="1">
                <a:solidFill>
                  <a:schemeClr val="tx1"/>
                </a:solidFill>
              </a:rPr>
              <a:t>The Context (25px, Bold)</a:t>
            </a:r>
            <a:endParaRPr lang="en-US" altLang="vi-VN" sz="2500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vi-VN" sz="2000">
                <a:solidFill>
                  <a:schemeClr val="tx1"/>
                </a:solidFill>
              </a:rPr>
              <a:t>E-commerce in Vietnam is growing rapidly, making user reviews a valuable resource for business intelligence. (15px)</a:t>
            </a:r>
            <a:endParaRPr lang="en-US" altLang="vi-VN" sz="200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vi-VN" sz="2000">
                <a:solidFill>
                  <a:schemeClr val="tx1"/>
                </a:solidFill>
              </a:rPr>
              <a:t>Current Vietnamese feedback systems (e.g., Shopee, Lazada) mostly use simple star ratings, lacking fine-grained analysis.</a:t>
            </a:r>
            <a:endParaRPr lang="en-US" altLang="vi-VN" sz="200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4105" y="1092200"/>
            <a:ext cx="5657850" cy="4057650"/>
          </a:xfrm>
          <a:prstGeom prst="rect">
            <a:avLst/>
          </a:prstGeom>
        </p:spPr>
      </p:pic>
      <p:sp>
        <p:nvSpPr>
          <p:cNvPr id="32" name="Text Box 31"/>
          <p:cNvSpPr txBox="1"/>
          <p:nvPr/>
        </p:nvSpPr>
        <p:spPr>
          <a:xfrm>
            <a:off x="6957695" y="5149850"/>
            <a:ext cx="409067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1500" i="1"/>
              <a:t>Figure 1.1. Product Review Section of Shopee</a:t>
            </a:r>
            <a:endParaRPr lang="en-US" sz="1500" i="1"/>
          </a:p>
          <a:p>
            <a:pPr algn="ctr"/>
            <a:r>
              <a:rPr lang="en-US" sz="1500" i="1"/>
              <a:t>(15px, Italic)</a:t>
            </a:r>
            <a:endParaRPr lang="en-US" sz="1500" i="1"/>
          </a:p>
        </p:txBody>
      </p:sp>
      <p:sp>
        <p:nvSpPr>
          <p:cNvPr id="34" name="Rectangles 33"/>
          <p:cNvSpPr/>
          <p:nvPr/>
        </p:nvSpPr>
        <p:spPr>
          <a:xfrm>
            <a:off x="360680" y="1092200"/>
            <a:ext cx="11471275" cy="5405755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60045" y="360045"/>
            <a:ext cx="1147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14350" indent="-514350">
              <a:buAutoNum type="arabicPeriod"/>
            </a:pPr>
            <a:r>
              <a:rPr lang="en-US" altLang="vi-VN" sz="3000" b="1">
                <a:solidFill>
                  <a:srgbClr val="FF0000"/>
                </a:solidFill>
              </a:rPr>
              <a:t>Introduction</a:t>
            </a:r>
            <a:endParaRPr lang="en-US" altLang="vi-VN" sz="3000" b="1">
              <a:solidFill>
                <a:srgbClr val="FF0000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0680" y="1092200"/>
            <a:ext cx="5741670" cy="343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vi-VN" sz="2500" b="1">
                <a:solidFill>
                  <a:schemeClr val="tx1"/>
                </a:solidFill>
              </a:rPr>
              <a:t>The Context</a:t>
            </a:r>
            <a:endParaRPr lang="en-US" altLang="vi-VN" sz="2500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vi-VN" sz="2000">
                <a:solidFill>
                  <a:schemeClr val="tx1"/>
                </a:solidFill>
              </a:rPr>
              <a:t>E-commerce in Vietnam is growing rapidly, making user reviews a valuable resource for business intelligence.</a:t>
            </a:r>
            <a:endParaRPr lang="en-US" altLang="vi-VN" sz="200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vi-VN" sz="2000">
                <a:solidFill>
                  <a:schemeClr val="tx1"/>
                </a:solidFill>
              </a:rPr>
              <a:t>Current Vietnamese feedback systems (e.g., Shopee, Lazada) mostly use simple star ratings, lacking fine-grained analysis.</a:t>
            </a:r>
            <a:endParaRPr lang="en-US" altLang="vi-VN" sz="200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4105" y="1092200"/>
            <a:ext cx="5657850" cy="4057650"/>
          </a:xfrm>
          <a:prstGeom prst="rect">
            <a:avLst/>
          </a:prstGeom>
        </p:spPr>
      </p:pic>
      <p:sp>
        <p:nvSpPr>
          <p:cNvPr id="32" name="Text Box 31"/>
          <p:cNvSpPr txBox="1"/>
          <p:nvPr/>
        </p:nvSpPr>
        <p:spPr>
          <a:xfrm>
            <a:off x="6957695" y="5149850"/>
            <a:ext cx="409067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500" i="1"/>
              <a:t>Figure 1.1. Product Review Section of Shopee</a:t>
            </a:r>
            <a:endParaRPr lang="en-US" sz="15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1917</Words>
  <Application>WPS Presentation</Application>
  <PresentationFormat>宽屏</PresentationFormat>
  <Paragraphs>124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文泉驿微米黑</vt:lpstr>
      <vt:lpstr>Arial Unicode MS</vt:lpstr>
      <vt:lpstr>Arial Black</vt:lpstr>
      <vt:lpstr>SimSun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nguyen-quang-huy</cp:lastModifiedBy>
  <cp:revision>29</cp:revision>
  <dcterms:created xsi:type="dcterms:W3CDTF">2026-03-25T11:31:08Z</dcterms:created>
  <dcterms:modified xsi:type="dcterms:W3CDTF">2026-03-25T11:31:08Z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